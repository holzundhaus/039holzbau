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bau.wordpress.com/2026/10/21/dachaufstockung-bayern-baugenehmigung-schritte/" TargetMode="External"/><Relationship Id="rId3" Type="http://schemas.openxmlformats.org/officeDocument/2006/relationships/hyperlink" Target="https://holzundhaus.github.io/039holzbau/dateien/minimax-d3b93d66e963bef690981cb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in Bayern: Welche Schritte zur Baugenehmigung konkret nötig sind · Erklärende Präsentation</a:t>
            </a:r>
          </a:p>
        </p:txBody>
      </p:sp>
      <p:sp>
        <p:nvSpPr>
          <p:cNvPr id="3" name="Content Placeholder 2"/>
          <p:cNvSpPr>
            <a:spLocks noGrp="1"/>
          </p:cNvSpPr>
          <p:nvPr>
            <p:ph idx="1"/>
          </p:nvPr>
        </p:nvSpPr>
        <p:spPr/>
        <p:txBody>
          <a:bodyPr/>
          <a:lstStyle/>
          <a:p>
            <a:r>
              <a:t>Überblick: Bei Regenwasser, Carport und Terrassenüberdachung in Essen geht es nicht nur um ein zusätzliches Bauteil, sondern um das Zusammenspiel von Dachflächen, Ableitung, Bestand und Nutzung. Der sinnvolle Planungsbeginn liegt deshalb vor der Detailentwurfsphase: Welche Flächen sollen bewässert werden, wohin kann Wasser geleitet werden und welche Anschlüsse sind am vorhandenen Gebäude erforderlich? Die folgenden Fragen helfen, Anforderungen früh zu erkennen und Abstimmungen mit der zuständigen Bauaufsicht vorzubereiten, ohne eine Genehmigungsfähigkeit vorwegzunehmen.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früh mit der Flächenplanung verbinden</a:t>
            </a:r>
          </a:p>
        </p:txBody>
      </p:sp>
      <p:sp>
        <p:nvSpPr>
          <p:cNvPr id="3" name="Content Placeholder 2"/>
          <p:cNvSpPr>
            <a:spLocks noGrp="1"/>
          </p:cNvSpPr>
          <p:nvPr>
            <p:ph idx="1"/>
          </p:nvPr>
        </p:nvSpPr>
        <p:spPr/>
        <p:txBody>
          <a:bodyPr/>
          <a:lstStyle/>
          <a:p>
            <a:pPr>
              <a:defRPr sz="1800"/>
            </a:pPr>
            <a:r>
              <a:t>Die Entwurfsüberlegung sollte beginnen mit der Flächenbilanz. Zu klären ist, welche Dächer und befestigten Flächen bei Regen Wasser abführen und welche Flächen bewässert werden sollen. Carportdach, Terrassenüberdachung, Zufahrt und Hofbeläge können unterschiedlich behandelt werden. Entscheidend ist außerdem, ob das anfallende Wasser gesammelt, zurückgehalten, versickert oder an eine vorhandene Ableitung angeschlossen werden soll. Eine übersichtliche Darstellung der Flächen erleichtert die Abstimmung mit Bauherrschaft, Planung und gegebenenfalls Fachingleuten. Sie zeigt auch, wo sich Änderungen an Dachneigung, Auslaufpunkten oder der Gestaltun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früh mit der Flächenplanung verbinden</a:t>
            </a:r>
          </a:p>
        </p:txBody>
      </p:sp>
      <p:sp>
        <p:nvSpPr>
          <p:cNvPr id="3" name="Content Placeholder 2"/>
          <p:cNvSpPr>
            <a:spLocks noGrp="1"/>
          </p:cNvSpPr>
          <p:nvPr>
            <p:ph idx="1"/>
          </p:nvPr>
        </p:nvSpPr>
        <p:spPr/>
        <p:txBody>
          <a:bodyPr/>
          <a:lstStyle/>
          <a:p>
            <a:pPr>
              <a:defRPr sz="1800"/>
            </a:pPr>
            <a:r>
              <a:t>g unmittelbar auf die Wasserführung auswirken.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nicht getrennt betrachten</a:t>
            </a:r>
          </a:p>
        </p:txBody>
      </p:sp>
      <p:sp>
        <p:nvSpPr>
          <p:cNvPr id="3" name="Content Placeholder 2"/>
          <p:cNvSpPr>
            <a:spLocks noGrp="1"/>
          </p:cNvSpPr>
          <p:nvPr>
            <p:ph idx="1"/>
          </p:nvPr>
        </p:nvSpPr>
        <p:spPr/>
        <p:txBody>
          <a:bodyPr/>
          <a:lstStyle/>
          <a:p>
            <a:pPr>
              <a:defRPr sz="1800"/>
            </a:pPr>
            <a:r>
              <a:t>Carport und Terrassenüberdachung erfüllen unterschiedliche Zwecke, können aber räumlich und konstruktiv miteinander verbunden sein. Beim Carport stehen meist die Funktion als überdachter Stellplatz und die Anbindung an Zufahrt oder Grundstücksentwässerung im Mittelpunkt. Eine Terrassenüberdachung verändert dagegen die Nutzung des Außenbereichs und berührt je nach Ausführung den Hausanschluss. Für beide Elemente sind die Unterkonstruktion, die Kontaktstellen zum Bestand und die Sicherung bei Wind und Wetter zu betrachten. Hilfreich ist eine gemeinsame Planung, die Regenwasserführung, Gefälle, Oberflächen und Anschlusspunkte klärt, statt ledigl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nicht getrennt betrachten</a:t>
            </a:r>
          </a:p>
        </p:txBody>
      </p:sp>
      <p:sp>
        <p:nvSpPr>
          <p:cNvPr id="3" name="Content Placeholder 2"/>
          <p:cNvSpPr>
            <a:spLocks noGrp="1"/>
          </p:cNvSpPr>
          <p:nvPr>
            <p:ph idx="1"/>
          </p:nvPr>
        </p:nvSpPr>
        <p:spPr/>
        <p:txBody>
          <a:bodyPr/>
          <a:lstStyle/>
          <a:p>
            <a:pPr>
              <a:defRPr sz="1800"/>
            </a:pPr>
            <a:r>
              <a:t>ich zwei Dächer nebeneinanderzustellen.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Anschlussfragen am Bestand vorab untersuchen</a:t>
            </a:r>
          </a:p>
        </p:txBody>
      </p:sp>
      <p:sp>
        <p:nvSpPr>
          <p:cNvPr id="3" name="Content Placeholder 2"/>
          <p:cNvSpPr>
            <a:spLocks noGrp="1"/>
          </p:cNvSpPr>
          <p:nvPr>
            <p:ph idx="1"/>
          </p:nvPr>
        </p:nvSpPr>
        <p:spPr/>
        <p:txBody>
          <a:bodyPr/>
          <a:lstStyle/>
          <a:p>
            <a:pPr>
              <a:defRPr sz="1800"/>
            </a:pPr>
            <a:r>
              <a:t>Vor einer konkreten Ausführung muss der vorhandene Bestand genauer bekannt sein. Relevant sind insbesondere die vorhandene Dachentwässerung, Anschlusshöhen, Raumlage, Materialien und die Tragfähigkeit der Flächen, an denen neue Bauteile befestigt oder aufgeständert werden sollen. Diese Punkte greifen die bautechnischen Anschlussfragen auf, die auch bei größeren Holzbauprojekten eine zentrale Rolle spielen. Fehlen belastbare Bestandsunterlagen, können Aufmaß und Fotodokumentation die erste Grundlage bilden. Anschließend lässt sich prüfen, ob eine konstruktiv verträgliche Lösung denkbar ist oder ob Anpassungen am Bestand erforderlich werden. 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Anschlussfragen am Bestand vorab untersuchen</a:t>
            </a:r>
          </a:p>
        </p:txBody>
      </p:sp>
      <p:sp>
        <p:nvSpPr>
          <p:cNvPr id="3" name="Content Placeholder 2"/>
          <p:cNvSpPr>
            <a:spLocks noGrp="1"/>
          </p:cNvSpPr>
          <p:nvPr>
            <p:ph idx="1"/>
          </p:nvPr>
        </p:nvSpPr>
        <p:spPr/>
        <p:txBody>
          <a:bodyPr/>
          <a:lstStyle/>
          <a:p>
            <a:pPr>
              <a:defRPr sz="1800"/>
            </a:pPr>
            <a:r>
              <a:t>bei bleiben Aussagen zur Genehmigungsfähigkeit dem konkreten Vorhaben und der zuständigen Behörde vorbehalten.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Umweltwirkungen gemeinsam definieren</a:t>
            </a:r>
          </a:p>
        </p:txBody>
      </p:sp>
      <p:sp>
        <p:nvSpPr>
          <p:cNvPr id="3" name="Content Placeholder 2"/>
          <p:cNvSpPr>
            <a:spLocks noGrp="1"/>
          </p:cNvSpPr>
          <p:nvPr>
            <p:ph idx="1"/>
          </p:nvPr>
        </p:nvSpPr>
        <p:spPr/>
        <p:txBody>
          <a:bodyPr/>
          <a:lstStyle/>
          <a:p>
            <a:pPr>
              <a:defRPr sz="1800"/>
            </a:pPr>
            <a:r>
              <a:t>Die gewünschte Nutzung beeinflusst viele Details. Ein Carport kann Fahrzeuge schützen, eine Terrassenüberdachung schafft ganzjährigen Aufenthalt im Freien, und beide Elemente verändern den Blick auf das Gebäude sowie die Gestaltung des Hofs. Zugleich sind Geräusch, Verschattung, Reinigung und die Ausführung bei niedrigen Temperaturen Aspekte, die im Planungsgespräch berücksichtigt werden können. Beim Regenwasser ist zu klären, ob eine sichtbare oder verdeckte Ableitung bevorzugt wird und wie sie mit Bepflanzung, Belägen und nutzbaren Flächen harmoniert. Ziel sollte nicht allein die technische Funktion sein, sondern eine stimmige Lösung für 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Umweltwirkungen gemeinsam definieren</a:t>
            </a:r>
          </a:p>
        </p:txBody>
      </p:sp>
      <p:sp>
        <p:nvSpPr>
          <p:cNvPr id="3" name="Content Placeholder 2"/>
          <p:cNvSpPr>
            <a:spLocks noGrp="1"/>
          </p:cNvSpPr>
          <p:nvPr>
            <p:ph idx="1"/>
          </p:nvPr>
        </p:nvSpPr>
        <p:spPr/>
        <p:txBody>
          <a:bodyPr/>
          <a:lstStyle/>
          <a:p>
            <a:pPr>
              <a:defRPr sz="1800"/>
            </a:pPr>
            <a:r>
              <a:t>bäude, Grundstück und Alltag.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Entscheidungsgrundlage statt vorschneller Detailplanung</a:t>
            </a:r>
          </a:p>
        </p:txBody>
      </p:sp>
      <p:sp>
        <p:nvSpPr>
          <p:cNvPr id="3" name="Content Placeholder 2"/>
          <p:cNvSpPr>
            <a:spLocks noGrp="1"/>
          </p:cNvSpPr>
          <p:nvPr>
            <p:ph idx="1"/>
          </p:nvPr>
        </p:nvSpPr>
        <p:spPr/>
        <p:txBody>
          <a:bodyPr/>
          <a:lstStyle/>
          <a:p>
            <a:pPr>
              <a:defRPr sz="1800"/>
            </a:pPr>
            <a:r>
              <a:t>Vor der Planung helfen belastbare Ausgangsdaten: ein aktueller Lageplan, Angaben zur Topografie, Fotos und Maße, Informationen zur vorhandenen Entwässerung sowie eine klare Beschreibung der gewünschten Nutzung. Damit lassen sich Varianten für Regenwasserführung und überdachte Flächen vergleichen. Offene Fragen zu Anschluss, Statik, Gestaltung und Genehmigungsweg sollten dokumentiert und früh mit den zuständigen Stellen geklärt werden. So werden aus allgemeinen Ideen belastbare Anforderungen, mit denen sich anschließend konkreter planen lässt.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Dachaufstockung in Bayern: Welche Schritte zur Baugenehmigung konkret nötig sind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