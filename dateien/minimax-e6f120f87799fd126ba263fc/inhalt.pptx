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bau.blogspot.com/2026/10/holzbau-auf-der-baustelle-munchen.html" TargetMode="External"/><Relationship Id="rId3" Type="http://schemas.openxmlformats.org/officeDocument/2006/relationships/hyperlink" Target="https://holzundhaus.github.io/039holzbau/dateien/minimax-e6f120f87799fd126ba263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 auf der Baustelle München: Zufahrt, Lager und Kranstellung vor Montagebeginn klären · Erklärende Präsentation</a:t>
            </a:r>
          </a:p>
        </p:txBody>
      </p:sp>
      <p:sp>
        <p:nvSpPr>
          <p:cNvPr id="3" name="Content Placeholder 2"/>
          <p:cNvSpPr>
            <a:spLocks noGrp="1"/>
          </p:cNvSpPr>
          <p:nvPr>
            <p:ph idx="1"/>
          </p:nvPr>
        </p:nvSpPr>
        <p:spPr/>
        <p:txBody>
          <a:bodyPr/>
          <a:lstStyle/>
          <a:p>
            <a:r>
              <a:t>Überblick: Vorgefertigte Holzbauteile verkürzen die Bauzeit erheblich – doch der eigentliche Vorteil dieser Bauweise zeigt sich erst, wenn das Grundstück die Anlieferung, Zwischenlagerung und Montage auch tatsächlich zulässt. Gerade in München mit seinen engen Grundstücken und dichten Bebauungen entscheiden oft kleine Details über den Projekterfolg. Dieser Ratgeber beleuchtet die wesentlichen Punkte, die Eigentümer und Bauherren vor Beginn klären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Baustellenlogistik bei Holzbau frühzeitig planen</a:t>
            </a:r>
          </a:p>
        </p:txBody>
      </p:sp>
      <p:sp>
        <p:nvSpPr>
          <p:cNvPr id="3" name="Content Placeholder 2"/>
          <p:cNvSpPr>
            <a:spLocks noGrp="1"/>
          </p:cNvSpPr>
          <p:nvPr>
            <p:ph idx="1"/>
          </p:nvPr>
        </p:nvSpPr>
        <p:spPr/>
        <p:txBody>
          <a:bodyPr/>
          <a:lstStyle/>
          <a:p>
            <a:pPr>
              <a:defRPr sz="1800"/>
            </a:pPr>
            <a:r>
              <a:t>Holzbauteile werden heute weitgehend im Werk vorgefertigt und zugeschnitten. Auf der Baustelle angekommen, müssen sie nur noch abgeladen, sortiert und mit dem Kran an ihren endgültigen Platz gehoben werden. Das setzt voraus, dass Zufahrt, Lagerfläche und Kranstellung sorgfältig geprüft wurden. Wer diese Punkte erst während der Montage angeht, riskiert Wartezeiten, doppelte Anfahrten oder improvisierte Lösungen, die am Ende teurer kommen als eine gründliche Vorbereitung. Eine kurze Begehung mit der ausführenden Holzbaufirma vor der Auftragsvergabe gehört daher zu den wichtigsten Schritten im Vorfeld.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und Anlieferung richtig vorbereiten</a:t>
            </a:r>
          </a:p>
        </p:txBody>
      </p:sp>
      <p:sp>
        <p:nvSpPr>
          <p:cNvPr id="3" name="Content Placeholder 2"/>
          <p:cNvSpPr>
            <a:spLocks noGrp="1"/>
          </p:cNvSpPr>
          <p:nvPr>
            <p:ph idx="1"/>
          </p:nvPr>
        </p:nvSpPr>
        <p:spPr/>
        <p:txBody>
          <a:bodyPr/>
          <a:lstStyle/>
          <a:p>
            <a:pPr>
              <a:defRPr sz="1800"/>
            </a:pPr>
            <a:r>
              <a:t>Bevor der Tieflader oder Lkw mit Anhänger bestellt wird, sollten mehrere Aspekte am und um das Grundstück geprüft werden. Zunächst ist die Durchfahrtsbreite und -höhe zu messen: Tore, Einfassungen, Laternen, Hausecken, Bäume und eventuelle Vordächer müssen ausreichend Raum für lange Bauteilbündel bieten. Die Tragfähigkeit der Zufahrt spielt ebenfalls eine zentrale Rolle, da schwere Lkw einen befestigten Untergrund benötigen, um Spurrillen oder Beschädigungen zu vermeiden. In München ist das Halten vor vielen Grundstücken eingeschränkt – eine kurzfristige Halteverbotszone für Anlieferung und Kran lässt sich bei der zuständigen Behörde beantrag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und Anlieferung richtig vorbereiten</a:t>
            </a:r>
          </a:p>
        </p:txBody>
      </p:sp>
      <p:sp>
        <p:nvSpPr>
          <p:cNvPr id="3" name="Content Placeholder 2"/>
          <p:cNvSpPr>
            <a:spLocks noGrp="1"/>
          </p:cNvSpPr>
          <p:nvPr>
            <p:ph idx="1"/>
          </p:nvPr>
        </p:nvSpPr>
        <p:spPr/>
        <p:txBody>
          <a:bodyPr/>
          <a:lstStyle/>
          <a:p>
            <a:pPr>
              <a:defRPr sz="1800"/>
            </a:pPr>
            <a:r>
              <a:t>en. Falls Lieferfahrzeuge über fremde Grundstücke fahren müssten, ist die schriftliche Zustimmung der Eigentümer vorab einzuholen.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Lagerfläche sinnvoll organisieren</a:t>
            </a:r>
          </a:p>
        </p:txBody>
      </p:sp>
      <p:sp>
        <p:nvSpPr>
          <p:cNvPr id="3" name="Content Placeholder 2"/>
          <p:cNvSpPr>
            <a:spLocks noGrp="1"/>
          </p:cNvSpPr>
          <p:nvPr>
            <p:ph idx="1"/>
          </p:nvPr>
        </p:nvSpPr>
        <p:spPr/>
        <p:txBody>
          <a:bodyPr/>
          <a:lstStyle/>
          <a:p>
            <a:pPr>
              <a:defRPr sz="1800"/>
            </a:pPr>
            <a:r>
              <a:t>Vorgefertigte Bauteile brauchen Platz zum Abladen, Sortieren und für die geplante Montagereihenfolge. Der ideale Lagerort ist eine ebene, trockene Fläche in Kranreichweite, möglichst nah am späteren Montageort. Der Untergrund sollte aus Schotter, Pflaster oder Bohlen bestehen, um Staunässe und direkten Bodenkontakt zu vermeiden. Ausreichend Puffer zu Nachbarbebauung, Zäunen und Hecken schützt die Bauteile vor Beschädigungen. Bei Massivholz und Holzrahmenbauteilen entscheidet die Feuchtigkeit über die spätere Verformung, daher sollten Folien oder Planen als Wetterschutz bereitgehalten werden. Verbindungsmittel wie Schrauben und Anschlussbleche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Lagerfläche sinnvoll organisieren</a:t>
            </a:r>
          </a:p>
        </p:txBody>
      </p:sp>
      <p:sp>
        <p:nvSpPr>
          <p:cNvPr id="3" name="Content Placeholder 2"/>
          <p:cNvSpPr>
            <a:spLocks noGrp="1"/>
          </p:cNvSpPr>
          <p:nvPr>
            <p:ph idx="1"/>
          </p:nvPr>
        </p:nvSpPr>
        <p:spPr/>
        <p:txBody>
          <a:bodyPr/>
          <a:lstStyle/>
          <a:p>
            <a:pPr>
              <a:defRPr sz="1800"/>
            </a:pPr>
            <a:r>
              <a:t> sollten getrennt vom Großbauteil lagern, damit der Kran nicht unnötig nachsortieren muss.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Kranstellung und Montageablauf klären</a:t>
            </a:r>
          </a:p>
        </p:txBody>
      </p:sp>
      <p:sp>
        <p:nvSpPr>
          <p:cNvPr id="3" name="Content Placeholder 2"/>
          <p:cNvSpPr>
            <a:spLocks noGrp="1"/>
          </p:cNvSpPr>
          <p:nvPr>
            <p:ph idx="1"/>
          </p:nvPr>
        </p:nvSpPr>
        <p:spPr/>
        <p:txBody>
          <a:bodyPr/>
          <a:lstStyle/>
          <a:p>
            <a:pPr>
              <a:defRPr sz="1800"/>
            </a:pPr>
            <a:r>
              <a:t>Der Kran ist auf innerstädtischen Grundstücken häufig der begrenzende Faktor für das gesamte Bauvorhaben. Vorab zu klären sind die Stellfläche mit ausreichend Platz für Pratzen und Abstützungen, die Tragfähigkeit des Untergrunds sowie eventuelle Leitungen im Erdreich. Aus der maximalen Bauteilgröße und der Entfernung zum Montageort ergeben sich Krangröße und optimale Position. Der Schwenkbereich muss sorgfältig geplant werden: Dach, Nachbargrundstück und öffentlicher Raum setzen Grenzen, die nicht überschritten werden dürfen. Elektrisch betriebene Kräne oder Arbeiten in der Dämmerung erfordern Anschluss und Beleuchtung. Sicherheitsabstände zu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Kranstellung und Montageablauf klären</a:t>
            </a:r>
          </a:p>
        </p:txBody>
      </p:sp>
      <p:sp>
        <p:nvSpPr>
          <p:cNvPr id="3" name="Content Placeholder 2"/>
          <p:cNvSpPr>
            <a:spLocks noGrp="1"/>
          </p:cNvSpPr>
          <p:nvPr>
            <p:ph idx="1"/>
          </p:nvPr>
        </p:nvSpPr>
        <p:spPr/>
        <p:txBody>
          <a:bodyPr/>
          <a:lstStyle/>
          <a:p>
            <a:pPr>
              <a:defRPr sz="1800"/>
            </a:pPr>
            <a:r>
              <a:t> Stromleitungen, Verkehrsflächen und bestehenden Gebäuden sind gesetzlich vorgeschrieben und nicht verhandelbar.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Nachbarschaft und Bestand berücksichtigen</a:t>
            </a:r>
          </a:p>
        </p:txBody>
      </p:sp>
      <p:sp>
        <p:nvSpPr>
          <p:cNvPr id="3" name="Content Placeholder 2"/>
          <p:cNvSpPr>
            <a:spLocks noGrp="1"/>
          </p:cNvSpPr>
          <p:nvPr>
            <p:ph idx="1"/>
          </p:nvPr>
        </p:nvSpPr>
        <p:spPr/>
        <p:txBody>
          <a:bodyPr/>
          <a:lstStyle/>
          <a:p>
            <a:pPr>
              <a:defRPr sz="1800"/>
            </a:pPr>
            <a:r>
              <a:t>Holzbau in bebauter Lage betrifft fast immer Anwohner, laufende Nutzung und bestehende Bausubstanz. Vor Montagebeginn sollten Fassade, Fenster und Beläge gesichert oder abgeklebt werden, um Beschädigungen zu vermeiden. Bewohner, Mieter oder laufende Betriebe müssen das Grundstück weiterhin nutzen können – Wege und Notausgänge sind einzuplanen. Auch bei reiner Montage entstehen kurze Lärm- und Staubphasen, die sich mit Nachbarn und Anwohnern abstimmen lassen. Eine frühzeitige Kommunikation vermeidet Konflikte und sorgt für einen reibungslosen Ablauf während der gesamten Bauphase.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Baustellenvorbereitung</a:t>
            </a:r>
          </a:p>
        </p:txBody>
      </p:sp>
      <p:sp>
        <p:nvSpPr>
          <p:cNvPr id="3" name="Content Placeholder 2"/>
          <p:cNvSpPr>
            <a:spLocks noGrp="1"/>
          </p:cNvSpPr>
          <p:nvPr>
            <p:ph idx="1"/>
          </p:nvPr>
        </p:nvSpPr>
        <p:spPr/>
        <p:txBody>
          <a:bodyPr/>
          <a:lstStyle/>
          <a:p>
            <a:pPr>
              <a:defRPr sz="1800"/>
            </a:pPr>
            <a:r>
              <a:t>Vor Auftragsvergabe und vor dem ersten Liefertermin sollten mindestens diese Punkte schriftlich geklärt sein: Maße und Tragfähigkeit der Grundstückszufahrt, Stellfläche für den Kran mit Abstützungen und Reichweite, geeigneter Lagerort mit Untergrund und Wetterschutz, Halteverbotszone oder Sondernutzungserlaubnis bei Bedarf, Zugang für Bewohner und Nachbarn während der Montage, geplante Lieferreihenfolge mit Angabe der zuerst benötigten Bauteile sowie klare Verantwortlichkeiten für fehlende, beschädigte oder nicht passende Teile. Wer diese Vorbereitungen dokumentiert, kann die Vorteile der Vorfertigung voll ausschöpfen und die Baustelle wird 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Baustellenvorbereitung</a:t>
            </a:r>
          </a:p>
        </p:txBody>
      </p:sp>
      <p:sp>
        <p:nvSpPr>
          <p:cNvPr id="3" name="Content Placeholder 2"/>
          <p:cNvSpPr>
            <a:spLocks noGrp="1"/>
          </p:cNvSpPr>
          <p:nvPr>
            <p:ph idx="1"/>
          </p:nvPr>
        </p:nvSpPr>
        <p:spPr/>
        <p:txBody>
          <a:bodyPr/>
          <a:lstStyle/>
          <a:p>
            <a:pPr>
              <a:defRPr sz="1800"/>
            </a:pPr>
            <a:r>
              <a:t>alkulierbar.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 auf der Baustelle München: Zufahrt, Lager und Kranstellung vor Montagebeginn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