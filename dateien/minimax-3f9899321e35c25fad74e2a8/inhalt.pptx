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wordpress.com/2026/10/31/holzterrasse-dach-oder-garten-aufbau-entwaesserung/" TargetMode="External"/><Relationship Id="rId3" Type="http://schemas.openxmlformats.org/officeDocument/2006/relationships/hyperlink" Target="https://holzundhaus.github.io/039holzbau/dateien/minimax-3f9899321e35c25fad74e2a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auf dem Dach oder im Garten: So ändern sich Aufbau, Unterkonstruktion und Wasserablauf · Erklärende Präsentation</a:t>
            </a:r>
          </a:p>
        </p:txBody>
      </p:sp>
      <p:sp>
        <p:nvSpPr>
          <p:cNvPr id="3" name="Content Placeholder 2"/>
          <p:cNvSpPr>
            <a:spLocks noGrp="1"/>
          </p:cNvSpPr>
          <p:nvPr>
            <p:ph idx="1"/>
          </p:nvPr>
        </p:nvSpPr>
        <p:spPr/>
        <p:txBody>
          <a:bodyPr/>
          <a:lstStyle/>
          <a:p>
            <a:r>
              <a:t>Überblick: Eine Holzterrasse lässt sich bodennah im Garten oder als Deck auf einem abgedichteten Dach errichten. Beide Varianten benötigen eine passende Unterkonstruktion und einen zuverlässigen Wasserablauf, doch die Vorbereitung unterscheidet sich deutlich. Im Garten stehen Untergrund, Verdichtung, Gefälle und Zugang im Vordergrund. Auf dem Dach müssen Aufbauhöhe, bestehende Abdichtung, Anschlüsse und die Tragfähigkeit berücksichtigt werden. Wer diese Unterschiede vor der Anfrage klärt, kann die gewünschte Terrasse besser einordnen. Für den fachlichen Einstieg bietet sich der Ratgeber Holzarten und Unterkonstruktion als passende Ergänzung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Gartenterrasse: Untergrund und Höhe zuerst klären</a:t>
            </a:r>
          </a:p>
        </p:txBody>
      </p:sp>
      <p:sp>
        <p:nvSpPr>
          <p:cNvPr id="3" name="Content Placeholder 2"/>
          <p:cNvSpPr>
            <a:spLocks noGrp="1"/>
          </p:cNvSpPr>
          <p:nvPr>
            <p:ph idx="1"/>
          </p:nvPr>
        </p:nvSpPr>
        <p:spPr/>
        <p:txBody>
          <a:bodyPr/>
          <a:lstStyle/>
          <a:p>
            <a:pPr>
              <a:defRPr sz="1800"/>
            </a:pPr>
            <a:r>
              <a:t>Im Garten entscheidet zunächst der vorhandene Boden. Zu prüfen sind Tragfähigkeit, Ebenheit und Verdichtung, aber auch die gewünschte Höhe zwischen Terrassentür und Deckbelag. Je nach örtlichen Gegebenheiten kann die Unterkonstruktion auf einem Splitt- oder Kiesbett, auf Punktfundamenten oder auf Stellfüßen aufgebaut werden. Für Aushub, Materialtransport und eine spätere Entsorgung muss außerdem ein geeigneter Zugang vorhanden sein. Auch die Richtung des Gefälles sollte früh feststehen: Das Oberflächenwasser benötigt einen klaren Weg zum Rasen, in eine Rinne oder zu einem Sickerschacht. Die sichtbare Deckhöhe allein genügt deshalb nicht, um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Gartenterrasse: Untergrund und Höhe zuerst klären</a:t>
            </a:r>
          </a:p>
        </p:txBody>
      </p:sp>
      <p:sp>
        <p:nvSpPr>
          <p:cNvPr id="3" name="Content Placeholder 2"/>
          <p:cNvSpPr>
            <a:spLocks noGrp="1"/>
          </p:cNvSpPr>
          <p:nvPr>
            <p:ph idx="1"/>
          </p:nvPr>
        </p:nvSpPr>
        <p:spPr/>
        <p:txBody>
          <a:bodyPr/>
          <a:lstStyle/>
          <a:p>
            <a:pPr>
              <a:defRPr sz="1800"/>
            </a:pPr>
            <a:r>
              <a:t>ie Konstruktion zu planen.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Dachterrasse: Abdichtung und Anschlüsse schützen</a:t>
            </a:r>
          </a:p>
        </p:txBody>
      </p:sp>
      <p:sp>
        <p:nvSpPr>
          <p:cNvPr id="3" name="Content Placeholder 2"/>
          <p:cNvSpPr>
            <a:spLocks noGrp="1"/>
          </p:cNvSpPr>
          <p:nvPr>
            <p:ph idx="1"/>
          </p:nvPr>
        </p:nvSpPr>
        <p:spPr/>
        <p:txBody>
          <a:bodyPr/>
          <a:lstStyle/>
          <a:p>
            <a:pPr>
              <a:defRPr sz="1800"/>
            </a:pPr>
            <a:r>
              <a:t>Unter einer Terrasse auf dem Dach befindet sich bereits eine Abdichtung, die nicht beschädigt werden darf. Wichtig sind deshalb der Zustand dieser Fläche und die Anschlüsse an Tür, Dachrand und weiteren aufgehenden Bauteilen. Die verfügbare Aufbauhöhe wird durch Türanschluss und vorhandene Anschlusshöhen begrenzt. Außerdem ist zu klären, welche Lasten aus Belag, Unterkonstruktion und möglichen Stellflächen auf das Dach wirken. Durchdringende Befestigungen sind zu vermeiden, und das Regenwasser muss weiterhin den Dachablauf sowie gegebenenfalls die Notentwässerung erreichen. Für die Unterkonstruktion kommen auf dem Dach lastverteilende Platten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Dachterrasse: Abdichtung und Anschlüsse schützen</a:t>
            </a:r>
          </a:p>
        </p:txBody>
      </p:sp>
      <p:sp>
        <p:nvSpPr>
          <p:cNvPr id="3" name="Content Placeholder 2"/>
          <p:cNvSpPr>
            <a:spLocks noGrp="1"/>
          </p:cNvSpPr>
          <p:nvPr>
            <p:ph idx="1"/>
          </p:nvPr>
        </p:nvSpPr>
        <p:spPr/>
        <p:txBody>
          <a:bodyPr/>
          <a:lstStyle/>
          <a:p>
            <a:pPr>
              <a:defRPr sz="1800"/>
            </a:pPr>
            <a:r>
              <a:t> mit Stellfüßen oder Lagerhölzern infrage.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Bewegungsspielraum</a:t>
            </a:r>
          </a:p>
        </p:txBody>
      </p:sp>
      <p:sp>
        <p:nvSpPr>
          <p:cNvPr id="3" name="Content Placeholder 2"/>
          <p:cNvSpPr>
            <a:spLocks noGrp="1"/>
          </p:cNvSpPr>
          <p:nvPr>
            <p:ph idx="1"/>
          </p:nvPr>
        </p:nvSpPr>
        <p:spPr/>
        <p:txBody>
          <a:bodyPr/>
          <a:lstStyle/>
          <a:p>
            <a:pPr>
              <a:defRPr sz="1800"/>
            </a:pPr>
            <a:r>
              <a:t>Die Aufbauhöhe ergibt sich aus Belagdicke, Auflagerhöhe und dem erforderlichen Gefälle. Im Garten muss die Unterkonstruktion ausreichend Abstand zum Erdreich halten, damit Feuchte abtrocknen kann. Bewegungen des Untergrunds, etwa bei lehmigen oder wechselnd feuchten Böden, sollen durch die Konstruktion aufgefangen werden. Auf dem Dach sind die Auflagerabstände häufig enger, weil der erhöhte Belag weniger zur Stabilisierung beiträgt. Die Abstände richten sich zusätzlich nach Belagdicke und verwendeter Holzart. Dielen verändern sich mit wechselnder Feuchte. Passende Fugen und eine geeignete Befestigung erhalten deshalb den notwendigen Bewegungs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Bewegungsspielraum</a:t>
            </a:r>
          </a:p>
        </p:txBody>
      </p:sp>
      <p:sp>
        <p:nvSpPr>
          <p:cNvPr id="3" name="Content Placeholder 2"/>
          <p:cNvSpPr>
            <a:spLocks noGrp="1"/>
          </p:cNvSpPr>
          <p:nvPr>
            <p:ph idx="1"/>
          </p:nvPr>
        </p:nvSpPr>
        <p:spPr/>
        <p:txBody>
          <a:bodyPr/>
          <a:lstStyle/>
          <a:p>
            <a:pPr>
              <a:defRPr sz="1800"/>
            </a:pPr>
            <a:r>
              <a:t>spielraum und reduzieren die Gefahr, dass sich Material verzieht oder Befestigungen nachlassen.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Wasserablauf und Holzpflege zusammendenken</a:t>
            </a:r>
          </a:p>
        </p:txBody>
      </p:sp>
      <p:sp>
        <p:nvSpPr>
          <p:cNvPr id="3" name="Content Placeholder 2"/>
          <p:cNvSpPr>
            <a:spLocks noGrp="1"/>
          </p:cNvSpPr>
          <p:nvPr>
            <p:ph idx="1"/>
          </p:nvPr>
        </p:nvSpPr>
        <p:spPr/>
        <p:txBody>
          <a:bodyPr/>
          <a:lstStyle/>
          <a:p>
            <a:pPr>
              <a:defRPr sz="1800"/>
            </a:pPr>
            <a:r>
              <a:t>In beiden Varianten ist ein kontrollierter Wasserablauf entscheidend. Im Garten kann ein leichtes Gefälle das Wasser zur angrenzenden Fläche, in eine Rinne oder zum Sickerschacht führen. Auf dem Dach muss der Ablauf die bestehende Entwässerung berücksichtigen. Laub, Schattenecken und stehendes Wasser belasten nicht nur den Belag, sondern auch Fugen und Unterkonstruktion. Eine Oberflächenbehandlung ersetzt deshalb nicht die regelmäßige Reinigung von Fugen und Ablaufwegen. Holzart, Befestigung, Fugenbild und Pflege wirken gemeinsam auf die Haltbarkeit. Für die weitere Planung ist eine ergänzende Vorbereitung zu Lage, Aufbauhöhe und Entwässerung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Wasserablauf und Holzpflege zusammendenken</a:t>
            </a:r>
          </a:p>
        </p:txBody>
      </p:sp>
      <p:sp>
        <p:nvSpPr>
          <p:cNvPr id="3" name="Content Placeholder 2"/>
          <p:cNvSpPr>
            <a:spLocks noGrp="1"/>
          </p:cNvSpPr>
          <p:nvPr>
            <p:ph idx="1"/>
          </p:nvPr>
        </p:nvSpPr>
        <p:spPr/>
        <p:txBody>
          <a:bodyPr/>
          <a:lstStyle/>
          <a:p>
            <a:pPr>
              <a:defRPr sz="1800"/>
            </a:pPr>
            <a:r>
              <a:t> sinnvoll, weil erst das Zusammenspiel dieser Faktoren einen dauerhaften Aufbau ermöglicht.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eine belastbare Anfrage</a:t>
            </a:r>
          </a:p>
        </p:txBody>
      </p:sp>
      <p:sp>
        <p:nvSpPr>
          <p:cNvPr id="3" name="Content Placeholder 2"/>
          <p:cNvSpPr>
            <a:spLocks noGrp="1"/>
          </p:cNvSpPr>
          <p:nvPr>
            <p:ph idx="1"/>
          </p:nvPr>
        </p:nvSpPr>
        <p:spPr/>
        <p:txBody>
          <a:bodyPr/>
          <a:lstStyle/>
          <a:p>
            <a:pPr>
              <a:defRPr sz="1800"/>
            </a:pPr>
            <a:r>
              <a:t>Für die erste Einschätzung helfen konkrete Angaben zur Lage der Fläche, den Maßen und der gewünschten Deckhöhe. Fotos von Türanschluss, Randbereich, Untergrund oder vorhandener Abdichtung erleichtern die Vorprüfung. Ergänzend sollten die Zugänglichkeit, etwa Stockwerk, Aufzug oder Zufahrt für Material, sowie die beabsichtigte Nutzung beschrieben werden. Dazu gehören Angaben zu Sitzfläche, Laufgang, Möbelstellflächen oder Kübelpflanzen. Entscheidend ist außerdem, ob es sich um eine bodennahe Gartenterrasse oder ein Dachdeck handelt. Mit diesen Informationen lassen sich Unterkonstruktion, Gefälle, Anschlüsse und Wasserablauf gezielter aufeinand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eine belastbare Anfrage</a:t>
            </a:r>
          </a:p>
        </p:txBody>
      </p:sp>
      <p:sp>
        <p:nvSpPr>
          <p:cNvPr id="3" name="Content Placeholder 2"/>
          <p:cNvSpPr>
            <a:spLocks noGrp="1"/>
          </p:cNvSpPr>
          <p:nvPr>
            <p:ph idx="1"/>
          </p:nvPr>
        </p:nvSpPr>
        <p:spPr/>
        <p:txBody>
          <a:bodyPr/>
          <a:lstStyle/>
          <a:p>
            <a:pPr>
              <a:defRPr sz="1800"/>
            </a:pPr>
            <a:r>
              <a:t>er abstimmen.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auf dem Dach oder im Garten: So ändern sich Aufbau, Unterkonstruktion und Wasserablauf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