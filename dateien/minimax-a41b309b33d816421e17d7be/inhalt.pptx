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holzbau/-/blob/aff611d8e4e1fc0d8f49c4ec9507c113768ae9ff/_posts/2026-10-25-baugenehmigung-bayern-drei-ebenen-verfahrensfreiheit-anzeigepflicht-zulaessigkeit.md" TargetMode="External"/><Relationship Id="rId3" Type="http://schemas.openxmlformats.org/officeDocument/2006/relationships/hyperlink" Target="https://holzundhaus.github.io/039holzbau/dateien/minimax-a41b309b33d816421e17d7b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Ebenen der Baugenehmigung in Bayern: Verfahrensfreiheit, Anzeigepflicht und materielle Zulässigkeit getrennt betrachten · Erklärende Präsentation</a:t>
            </a:r>
          </a:p>
        </p:txBody>
      </p:sp>
      <p:sp>
        <p:nvSpPr>
          <p:cNvPr id="3" name="Content Placeholder 2"/>
          <p:cNvSpPr>
            <a:spLocks noGrp="1"/>
          </p:cNvSpPr>
          <p:nvPr>
            <p:ph idx="1"/>
          </p:nvPr>
        </p:nvSpPr>
        <p:spPr/>
        <p:txBody>
          <a:bodyPr/>
          <a:lstStyle/>
          <a:p>
            <a:r>
              <a:t>Überblick: Ob Holzbauprojekt, Carport, Gartenhaus oder Dachgeschossausbau: In Bayern lässt sich die Genehmigungslage nicht pauschal mit einem Ja oder Nein beantworten. Sinnvoller ist eine dreiteilige Prüfung. Zunächst wird geklärt, ob das Vorhaben verfahrensfrei ist. Danach folgt die Frage nach einer Anzeigepflicht. Erst anschließend wird geprüft, ob das Projekt am konkreten Standort materiell zulässig ist. Die Systematik der drei Prüfebenen orientiert sich am Beitrag „Drei Ebenen der Baugenehmigung in Bayern: Verfahrensfreiheit, Anzeigepflicht und materielle Zulässigkeit getrennt betrachtet“ und lässt sich als belastbare Checkliste für die 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Ist das Vorhaben nach Art. 57 BayBO verfahrensfrei?</a:t>
            </a:r>
          </a:p>
        </p:txBody>
      </p:sp>
      <p:sp>
        <p:nvSpPr>
          <p:cNvPr id="3" name="Content Placeholder 2"/>
          <p:cNvSpPr>
            <a:spLocks noGrp="1"/>
          </p:cNvSpPr>
          <p:nvPr>
            <p:ph idx="1"/>
          </p:nvPr>
        </p:nvSpPr>
        <p:spPr/>
        <p:txBody>
          <a:bodyPr/>
          <a:lstStyle/>
          <a:p>
            <a:pPr>
              <a:defRPr sz="1800"/>
            </a:pPr>
            <a:r>
              <a:t>Verfahrensfreiheit bedeutet, dass für das konkrete Vorhaben kein Baugenehmigungsverfahren durchgeführt wird. Das gilt nur, wenn sämtliche Merkmale der passenden Fallgruppe des Art. 57 BayBO erfüllt sind. Entscheidend sind daher nicht nur die äußeren Abmessungen, sondern auch Bauteil, Nutzung, konstruktive Ausführung und die Lage des Grundstücks. Weder die Verwendung von Holz noch der Einsatz eines Bausatzes führen automatisch zu einer Verfahrensfreiheit. Für die Prüfung sollte zunächst beschrieben werden, ob beispielsweise ein Gartenhaus, ein Carport, eine Stellplatzüberdachung, eine Dachgaube oder ein Ausbau des Dachgeschosses vorgesehen 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Ist das Vorhaben nach Art. 57 BayBO verfahrensfrei?</a:t>
            </a:r>
          </a:p>
        </p:txBody>
      </p:sp>
      <p:sp>
        <p:nvSpPr>
          <p:cNvPr id="3" name="Content Placeholder 2"/>
          <p:cNvSpPr>
            <a:spLocks noGrp="1"/>
          </p:cNvSpPr>
          <p:nvPr>
            <p:ph idx="1"/>
          </p:nvPr>
        </p:nvSpPr>
        <p:spPr/>
        <p:txBody>
          <a:bodyPr/>
          <a:lstStyle/>
          <a:p>
            <a:pPr>
              <a:defRPr sz="1800"/>
            </a:pPr>
            <a:r>
              <a:t>. Anschließend lässt sich diese Beschreibung einer konkreten Fallgruppe zuordnen. Dabei ist auch zu klären, ob das Grundstück im Geltungsbereich eines Bebauungsplans, im Innenbereich oder im Außenbereich liegt. Erst wenn alle Tatbestandsmerkmale erfüllt sind, kann die Verfahrensfreiheit angenommen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Muss ein verfahrensfreies Vorhaben trotzdem angezeigt werden?</a:t>
            </a:r>
          </a:p>
        </p:txBody>
      </p:sp>
      <p:sp>
        <p:nvSpPr>
          <p:cNvPr id="3" name="Content Placeholder 2"/>
          <p:cNvSpPr>
            <a:spLocks noGrp="1"/>
          </p:cNvSpPr>
          <p:nvPr>
            <p:ph idx="1"/>
          </p:nvPr>
        </p:nvSpPr>
        <p:spPr/>
        <p:txBody>
          <a:bodyPr/>
          <a:lstStyle/>
          <a:p>
            <a:pPr>
              <a:defRPr sz="1800"/>
            </a:pPr>
            <a:r>
              <a:t>Aus der Verfahrensfreiheit folgt nicht, dass die Gemeinde ohne weitere Kenntnis bleiben darf. Für bestimmte verfahrensfreie Vorhaben verlangt Art. 57 Abs. 7 BayBO eine Anzeige in Textform. Diese muss der Gemeinde zwei Wochen vor Baubeginn vorliegen. Ein Beispiel ist der Dachgeschossausbau zu Wohnzwecken nach Art. 57 Abs. 1 Nr. 18 BayBO, sofern Konstruktion und äußere Gestalt des Gebäudes im Übrigen unverändert bleiben. Ob diese Voraussetzungen beim eigenen Entwurf tatsächlich erfüllt sind, muss gesondert festgestellt werden. Die Anzeige sollte das Vorhaben so eindeutig beschreiben, dass sich Bauteil, Nutzung, konstruktive Ausführung und erken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Muss ein verfahrensfreies Vorhaben trotzdem angezeigt werden?</a:t>
            </a:r>
          </a:p>
        </p:txBody>
      </p:sp>
      <p:sp>
        <p:nvSpPr>
          <p:cNvPr id="3" name="Content Placeholder 2"/>
          <p:cNvSpPr>
            <a:spLocks noGrp="1"/>
          </p:cNvSpPr>
          <p:nvPr>
            <p:ph idx="1"/>
          </p:nvPr>
        </p:nvSpPr>
        <p:spPr/>
        <p:txBody>
          <a:bodyPr/>
          <a:lstStyle/>
          <a:p>
            <a:pPr>
              <a:defRPr sz="1800"/>
            </a:pPr>
            <a:r>
              <a:t>nbare äußere Veränderungen nachvollziehen lassen. Je nach Projekt können Pläne oder Bauteilnachweise erforderlich sein. Wichtig ist außerdem die Terminplanung: Die Zwei-Wochen-Frist muss eingehalten werden, bevor gebaut wird. Die Einordnung und die erforderlichen Unterlagen gehören daher in die Planungsphase, nicht erst kurz vor dem Baubeginn.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Ist das Vorhaben am Standort auch materiell zulässig?</a:t>
            </a:r>
          </a:p>
        </p:txBody>
      </p:sp>
      <p:sp>
        <p:nvSpPr>
          <p:cNvPr id="3" name="Content Placeholder 2"/>
          <p:cNvSpPr>
            <a:spLocks noGrp="1"/>
          </p:cNvSpPr>
          <p:nvPr>
            <p:ph idx="1"/>
          </p:nvPr>
        </p:nvSpPr>
        <p:spPr/>
        <p:txBody>
          <a:bodyPr/>
          <a:lstStyle/>
          <a:p>
            <a:pPr>
              <a:defRPr sz="1800"/>
            </a:pPr>
            <a:r>
              <a:t>Ein verfahrensfreies Vorhaben kann am jeweiligen Grundstück trotzdem unzulässig sein. Unabhängig vom gewählten Verfahren bleiben materielle Anforderungen zu prüfen. Dazu gehören insbesondere Abstandsflächen zu Nachbargrenzen und öffentlichen Flächen sowie die planungsrechtliche Lage des Grundstücks. Je nach Bebauungsplan sind außerdem Baugrenzen, Baulinien oder festgesetzte Nutzungsmaße zu beachten. Für die Einordnung ist zu klären, ob ein Bebauungsplan gilt, das Vorhaben im Innenbereich nach § 34 BauGB oder im Außenbereich nach § 35 BauGB liegt. Auch denkmalrechtliche sowie erholungs- oder naturschutzrechtliche Belange können eine Rolle spie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Ist das Vorhaben am Standort auch materiell zulässig?</a:t>
            </a:r>
          </a:p>
        </p:txBody>
      </p:sp>
      <p:sp>
        <p:nvSpPr>
          <p:cNvPr id="3" name="Content Placeholder 2"/>
          <p:cNvSpPr>
            <a:spLocks noGrp="1"/>
          </p:cNvSpPr>
          <p:nvPr>
            <p:ph idx="1"/>
          </p:nvPr>
        </p:nvSpPr>
        <p:spPr/>
        <p:txBody>
          <a:bodyPr/>
          <a:lstStyle/>
          <a:p>
            <a:pPr>
              <a:defRPr sz="1800"/>
            </a:pPr>
            <a:r>
              <a:t>len. Hinzu kommen bautechnische Nachweise zu Tragfähigkeit, Brandschutz und Rettungswegen. Die Größe eines Gebäudes allein erlaubt daher keine Freigabe. Die Aussagen der Landeshauptstadt München zum Bauen ohne Baugenehmigung können als ergänzende Orientierung dienen, ersetzen jedoch nicht die Prüfung des einzelnen Grundstücks und Projekts.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die drei Prüfebenen praktisch verbinden?</a:t>
            </a:r>
          </a:p>
        </p:txBody>
      </p:sp>
      <p:sp>
        <p:nvSpPr>
          <p:cNvPr id="3" name="Content Placeholder 2"/>
          <p:cNvSpPr>
            <a:spLocks noGrp="1"/>
          </p:cNvSpPr>
          <p:nvPr>
            <p:ph idx="1"/>
          </p:nvPr>
        </p:nvSpPr>
        <p:spPr/>
        <p:txBody>
          <a:bodyPr/>
          <a:lstStyle/>
          <a:p>
            <a:pPr>
              <a:defRPr sz="1800"/>
            </a:pPr>
            <a:r>
              <a:t>Eine nachvollziehbare Prüfung erfolgt nacheinander: erstens die zutreffende Fallgruppe des Art. 57 BayBO feststellen, zweitens eine mögliche Anzeigepflicht samt Zwei-Wochen-Frist klären und drittens die materielle Zulässigkeit anhand von Planungsrecht, Abstandsflächen, Schutzbelangen und technischen Anforderungen prüfen. Als Arbeitsgrundlage dienen ein Lageplan, vorhandene Bestandspläne und eine kurze, möglichst genaue Vorhabenbeschreibung. Darin sollten Maße, Nutzung, Aufbau, konstruktive Materialien und geplante Änderungen am Bestand festgehalten sein. Diese Unterlagen erleichtern sowohl die eigene Zuordnung als auch eine projektbezogene 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die drei Prüfebenen praktisch verbinden?</a:t>
            </a:r>
          </a:p>
        </p:txBody>
      </p:sp>
      <p:sp>
        <p:nvSpPr>
          <p:cNvPr id="3" name="Content Placeholder 2"/>
          <p:cNvSpPr>
            <a:spLocks noGrp="1"/>
          </p:cNvSpPr>
          <p:nvPr>
            <p:ph idx="1"/>
          </p:nvPr>
        </p:nvSpPr>
        <p:spPr/>
        <p:txBody>
          <a:bodyPr/>
          <a:lstStyle/>
          <a:p>
            <a:pPr>
              <a:defRPr sz="1800"/>
            </a:pPr>
            <a:r>
              <a:t>stimmung mit der zuständigen Stelle. Ein gutes Prüfergebnis beantwortet deshalb nicht nur die Frage „Genehmigung oder nicht?“, sondern dokumentiert getrennt, warum das Vorhaben verfahrensfrei ist, ob eine Anzeige erforderlich bleibt und wodurch seine bauliche Zulässigkeit am Standort nachgewiesen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Drei Ebenen der Baugenehmigung in Bayern: Verfahrensfreiheit, Anzeigepflicht und materielle Zulässigkeit getrennt betrachten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